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/EJpTFmF5SSyhsa1sPH4XxzUa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9272B8-B2A8-4306-A362-FC9B462D6055}">
  <a:tblStyle styleId="{5D9272B8-B2A8-4306-A362-FC9B462D605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3a772e3e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93a772e3e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93a772e3e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93a772e3e9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93a772e3e9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93a772e3e9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4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B3A5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2E7D9B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PLATAFORMA DE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ANTECIPAÇÃO DE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RECEBÍVEIS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3291840"/>
            <a:ext cx="1828800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5D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3DA5D9"/>
                </a:solidFill>
                <a:latin typeface="Calibri"/>
                <a:ea typeface="Calibri"/>
                <a:cs typeface="Calibri"/>
                <a:sym typeface="Calibri"/>
              </a:rPr>
              <a:t>Fluxos Operacionais Detalhados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Documento Confidencial  |  Fevereiro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Agenda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40080" y="1051560"/>
            <a:ext cx="54864" cy="50292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68680" y="1069848"/>
            <a:ext cx="548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463040" y="1069848"/>
            <a:ext cx="64008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Visão Geral da Plataforma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40080" y="1691640"/>
            <a:ext cx="54864" cy="50292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68680" y="1709928"/>
            <a:ext cx="548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63040" y="1709928"/>
            <a:ext cx="64008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Fluxo de Antecipação — Médicos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40080" y="2331720"/>
            <a:ext cx="54864" cy="50292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68680" y="2350008"/>
            <a:ext cx="548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463040" y="2350008"/>
            <a:ext cx="64008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Liquidação e Conciliação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0080" y="2971800"/>
            <a:ext cx="7863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40080" y="2971800"/>
            <a:ext cx="54864" cy="50292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68680" y="2990088"/>
            <a:ext cx="548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463040" y="2990088"/>
            <a:ext cx="64008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Velocidade de Crédito: FIDC → Plataforma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40080" y="3611880"/>
            <a:ext cx="7863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40080" y="3611880"/>
            <a:ext cx="54864" cy="50292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68680" y="3630168"/>
            <a:ext cx="548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463040" y="3630168"/>
            <a:ext cx="64008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Segurança e Compliance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40080" y="4251960"/>
            <a:ext cx="54864" cy="5029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868680" y="4270248"/>
            <a:ext cx="548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0A500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463040" y="4270248"/>
            <a:ext cx="64008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Fluxo de Antecipação — Fornecedores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Seção de fornecedores apresentada separadamente, conforme interesse.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Visão Geral da Plataforma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Médicos de hospitais recebem antecipadamente os valores referentes a plantões realizados, mediante cessão de recebíveis a um FIDC.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0080" y="1691640"/>
            <a:ext cx="37947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40080" y="1691640"/>
            <a:ext cx="54864" cy="128016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85623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1234440" y="180136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Hospital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22960" y="224028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Cadastra médicos, aprova plantões, confirma recebíveis e efetua pagamento no vencimento.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754880" y="1691640"/>
            <a:ext cx="37947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754880" y="1691640"/>
            <a:ext cx="54864" cy="128016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85623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5349240" y="180136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Médico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937760" y="224028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Realiza plantões e solicita antecipação via app. Opera por CPF ou CNPJ.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0080" y="3200400"/>
            <a:ext cx="37947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40080" y="3200400"/>
            <a:ext cx="54864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336499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1234440" y="331012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FIDC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22960" y="374904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Administra recursos para antecipação. Transfere valor e recebe principal com juros.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754880" y="3200400"/>
            <a:ext cx="37947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754880" y="3200400"/>
            <a:ext cx="54864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336499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5349240" y="331012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Plataforma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937760" y="374904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Orquestra fluxos: contas escrow, travas de domicílio, splits, conciliação e compliance.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Conta Escrow segregada por CPF/CNPJ — total rastreabilidade e segregação patrimonial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Fluxo de Antecipação — Médicos (1/2)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Etapas 1 a 4: do cadastro ao início do plantão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65760" y="1371600"/>
            <a:ext cx="16916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65760" y="1371600"/>
            <a:ext cx="1691640" cy="640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937260" y="160020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961" y="1720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365760" y="22860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1. Cadastro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75488" y="2743200"/>
            <a:ext cx="14721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Hospital cadastra médico na plataforma com dados pessoais, CPF/CNPJ e conta bancária.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194560" y="276148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606040" y="1371600"/>
            <a:ext cx="16916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2606040" y="1371600"/>
            <a:ext cx="1691640" cy="64008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177540" y="1600200"/>
            <a:ext cx="548640" cy="548640"/>
          </a:xfrm>
          <a:prstGeom prst="ellipse">
            <a:avLst/>
          </a:prstGeom>
          <a:solidFill>
            <a:srgbClr val="2E7D9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8241" y="1720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2606040" y="22860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2. Agendamento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715768" y="2743200"/>
            <a:ext cx="14721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Médico agenda o plantão no sistema da plataforma, vinculando ao hospital.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434840" y="276148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846320" y="1371600"/>
            <a:ext cx="16916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846320" y="1371600"/>
            <a:ext cx="1691640" cy="640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417820" y="160020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8521" y="1720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4846320" y="22860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3. Aprovação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956048" y="2743200"/>
            <a:ext cx="14721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Supervisão hospitalar ou sistema automático aprova o agendamento do plantão.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675120" y="276148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086600" y="1371600"/>
            <a:ext cx="16916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7086600" y="1371600"/>
            <a:ext cx="1691640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7658100" y="1600200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8801" y="1720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7086600" y="22860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4. Check-in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196328" y="2743200"/>
            <a:ext cx="14721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Médico confirma o início do plantão via app, registrando presença.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400800" y="4663440"/>
            <a:ext cx="2377440" cy="320040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400800" y="46634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Continua 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Fluxo de Antecipação — Médicos (2/2)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Etapas 5 a 7: do término à disponibilização do recebível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20040" y="1371600"/>
            <a:ext cx="22860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320040" y="1371600"/>
            <a:ext cx="2286000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1165860" y="1554480"/>
            <a:ext cx="594360" cy="59436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6619" y="16852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320040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5. Check-out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57200" y="274320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Médico confirma o término do plantão via app, encerrando o registro de presença.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834640" y="25786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429000" y="1371600"/>
            <a:ext cx="22860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3429000" y="1371600"/>
            <a:ext cx="2286000" cy="64008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274820" y="1554480"/>
            <a:ext cx="594360" cy="594360"/>
          </a:xfrm>
          <a:prstGeom prst="ellipse">
            <a:avLst/>
          </a:prstGeom>
          <a:solidFill>
            <a:srgbClr val="2E7D9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5579" y="16852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3429000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6. Validação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566160" y="274320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Supervisão hospitalar valida o plantão para fins de pagamento. Recebível se torna performado.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943600" y="25786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537960" y="1371600"/>
            <a:ext cx="22860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537960" y="1371600"/>
            <a:ext cx="2286000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7383780" y="1554480"/>
            <a:ext cx="594360" cy="594360"/>
          </a:xfrm>
          <a:prstGeom prst="ellipse">
            <a:avLst/>
          </a:prstGeom>
          <a:solidFill>
            <a:srgbClr val="F0A50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4539" y="16852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6537960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7. Disponível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675120" y="274320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Recebível performado aparece no app com valor e taxa de desconto, pronto para antecipação.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BF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Após a etapa 7, o recebível performado fica visível no app com valor e taxa de desconto para antecipação.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Cenários de Operação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40080" y="8229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médico pode operar por CPF (pessoa física) ou por CNPJ (pessoa jurídica). Cada cenário segue um caminho específico.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65760" y="1463040"/>
            <a:ext cx="2724912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65760" y="1463040"/>
            <a:ext cx="2724912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1344168" y="1645920"/>
            <a:ext cx="502920" cy="50292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4810" y="175656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365760" y="2240280"/>
            <a:ext cx="2724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E8B57"/>
                </a:solidFill>
                <a:latin typeface="Georgia"/>
                <a:ea typeface="Georgia"/>
                <a:cs typeface="Georgia"/>
                <a:sym typeface="Georgia"/>
              </a:rPr>
              <a:t>Via CPF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65760" y="2514600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Pessoa Física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8640" y="292608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Antecipação direta ao CPF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Conta escrow vinculada ao CPF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Sem pagamento a terceiros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Processo mais simples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246120" y="1463040"/>
            <a:ext cx="2724912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246120" y="1463040"/>
            <a:ext cx="2724912" cy="64008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224528" y="1645920"/>
            <a:ext cx="502920" cy="502920"/>
          </a:xfrm>
          <a:prstGeom prst="ellipse">
            <a:avLst/>
          </a:prstGeom>
          <a:solidFill>
            <a:srgbClr val="2E7D9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5170" y="175656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3246120" y="2240280"/>
            <a:ext cx="2724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Georgia"/>
                <a:ea typeface="Georgia"/>
                <a:cs typeface="Georgia"/>
                <a:sym typeface="Georgia"/>
              </a:rPr>
              <a:t>Via CNPJ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246120" y="2514600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Unipessoal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429000" y="292608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Administrador autoriza (doc PJ)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Trava no CNPJ inteiro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Split: 30% impostos + 70% antecipação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Doc diferente do fluxo CPF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126480" y="1463040"/>
            <a:ext cx="2724912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6126480" y="1463040"/>
            <a:ext cx="2724912" cy="640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7104888" y="164592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5530" y="175656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6126480" y="2240280"/>
            <a:ext cx="2724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Via CNPJ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126480" y="2514600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Múltiplos Sócios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309360" y="292608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Administrador autoriza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Distribuição individual por médico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Cada um antecipa independentemente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Confidencialidade total entre médicos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FFFBF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548640" y="480060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Nenhum médico ou administrador tem visibilidade sobre antecipações de outros profissionais.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Fluxo via CPF — Pessoa Física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0080" y="1207008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40080" y="12070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371600" y="1097280"/>
            <a:ext cx="73152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1371600" y="1097280"/>
            <a:ext cx="54864" cy="8686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1554480" y="1170432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Solicita antecipação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554480" y="15087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Médico seleciona recebível no app e solicita crédito antecipado.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7"/>
          <p:cNvCxnSpPr/>
          <p:nvPr/>
        </p:nvCxnSpPr>
        <p:spPr>
          <a:xfrm>
            <a:off x="914400" y="178308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7"/>
          <p:cNvSpPr/>
          <p:nvPr/>
        </p:nvSpPr>
        <p:spPr>
          <a:xfrm>
            <a:off x="640080" y="2395728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640080" y="23957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371600" y="2286000"/>
            <a:ext cx="73152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1371600" y="2286000"/>
            <a:ext cx="54864" cy="8686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1554480" y="2359152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Trava de domicílio bancário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554480" y="269748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Conta escrow aberta e vinculada ao CPF do médico. Garante rastreabilidade.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7"/>
          <p:cNvCxnSpPr/>
          <p:nvPr/>
        </p:nvCxnSpPr>
        <p:spPr>
          <a:xfrm>
            <a:off x="914400" y="297180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7"/>
          <p:cNvSpPr/>
          <p:nvPr/>
        </p:nvSpPr>
        <p:spPr>
          <a:xfrm>
            <a:off x="640080" y="3584448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640080" y="35844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371600" y="3474720"/>
            <a:ext cx="73152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1371600" y="3474720"/>
            <a:ext cx="54864" cy="8686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1554480" y="3547872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FIDC transfere recursos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554480" y="38862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FIDC → Conta de Liquidação → CPF do Médico. Valor descontadas taxas e juros.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40080" y="4480560"/>
            <a:ext cx="8046720" cy="457200"/>
          </a:xfrm>
          <a:prstGeom prst="rect">
            <a:avLst/>
          </a:prstGeom>
          <a:solidFill>
            <a:srgbClr val="E8F5E9"/>
          </a:solidFill>
          <a:ln cap="flat" cmpd="sng" w="1905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822960" y="44805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Regra PLD/FT: pagamento exclusivamente para conta vinculada ao CPF cadastrado. Zero pagamento a terceiros.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Fluxo via CNPJ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Autorização do administrador obrigatória em ambos os cenários. Documento específico PJ (diferente do CPF).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57200" y="1371600"/>
            <a:ext cx="54864" cy="292608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2E7D9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" y="16093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/>
          <p:nvPr/>
        </p:nvSpPr>
        <p:spPr>
          <a:xfrm>
            <a:off x="1325880" y="1508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CNPJ Unipessoal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22960" y="214884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Administrador (próprio médico) assina doc PJ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Trava de domicílio no CNPJ inteiro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Hospital paga na conta escrow do CNPJ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Split: 30% (ajustável) → impostos + admin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70% → fluxo padrão de antecipação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4754880" y="1371600"/>
            <a:ext cx="54864" cy="2926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5029200" y="150876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9784" y="16093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/>
          <p:nvPr/>
        </p:nvSpPr>
        <p:spPr>
          <a:xfrm>
            <a:off x="5623560" y="1508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Múltiplos Sócios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120640" y="214884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Administrador autoriza antecipações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Trava de domicílio no CNPJ inteiro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Split: 30% → CNPJ / 70% individual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Distribuição conforme recebíveis de cada médico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Cada médico antecipa independentemente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FFBF0"/>
          </a:solidFill>
          <a:ln cap="flat" cmpd="sng" w="190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⚠  Confidencialidade: nenhum médico ou administrador sabe se outro antecipou.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Liquidação e Conciliação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57200" y="10972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57200" y="1097280"/>
            <a:ext cx="1554480" cy="73152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457200" y="12344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2E7D9B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48640" y="18288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Hospital paga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no vencimento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48640" y="26517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Valor vai para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conta escrow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965960" y="15544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2148840" y="10972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2148840" y="1097280"/>
            <a:ext cx="1554480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2148840" y="12344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2240280" y="18288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Abatimento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principal + juros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2240280" y="26517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Plataforma debita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antecipação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3657600" y="15544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840480" y="10972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3840480" y="1097280"/>
            <a:ext cx="1554480" cy="7315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3840480" y="12344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2E8B57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931920" y="18288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Split CNPJ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(se aplicável)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931920" y="26517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30% impostos 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administração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349240" y="15544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5532120" y="10972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5532120" y="1097280"/>
            <a:ext cx="155448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5532120" y="12344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0A50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5623560" y="18288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Excedente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ao médico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623560" y="26517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Saldo restante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creditado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7040880" y="15544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7223760" y="10972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7223760" y="1097280"/>
            <a:ext cx="1554480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7223760" y="12344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7315200" y="18288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Repasse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ao FIDC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7315200" y="26517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Transferência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automática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Fluxo financeiro:  FIDC → Conta Liquidação → Médico  |  Hospital → Escrow → Abatimento → FIDC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Velocidade de Crédito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40080" y="685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Fluxo FIDC → Plataforma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frequência de transferência do FIDC define quão rápido o crédito chega ao solicitante.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57200" y="1417320"/>
            <a:ext cx="2697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1417320" y="1600200"/>
            <a:ext cx="502920" cy="502920"/>
          </a:xfrm>
          <a:prstGeom prst="ellipse">
            <a:avLst/>
          </a:prstGeom>
          <a:solidFill>
            <a:srgbClr val="2E7D9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5" name="Google Shape;2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962" y="171084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0"/>
          <p:cNvSpPr/>
          <p:nvPr/>
        </p:nvSpPr>
        <p:spPr>
          <a:xfrm>
            <a:off x="457200" y="21945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2E7D9B"/>
                </a:solidFill>
                <a:latin typeface="Georgia"/>
                <a:ea typeface="Georgia"/>
                <a:cs typeface="Georgia"/>
                <a:sym typeface="Georgia"/>
              </a:rPr>
              <a:t>D+1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57200" y="26060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Dia seguinte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40080" y="297180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FIDC transfere 1x/dia. Plataforma lista solicitações no fim do expediente. Crédito no dia útil seguinte.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731520" y="4206240"/>
            <a:ext cx="2148840" cy="320040"/>
          </a:xfrm>
          <a:prstGeom prst="rect">
            <a:avLst/>
          </a:prstGeom>
          <a:solidFill>
            <a:srgbClr val="2E7D9B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731520" y="42062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Recomendado para início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3337560" y="1417320"/>
            <a:ext cx="2697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3337560" y="1417320"/>
            <a:ext cx="269748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4297680" y="1600200"/>
            <a:ext cx="502920" cy="502920"/>
          </a:xfrm>
          <a:prstGeom prst="ellipse">
            <a:avLst/>
          </a:prstGeom>
          <a:solidFill>
            <a:srgbClr val="F0A50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8322" y="171084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3337560" y="21945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A500"/>
                </a:solidFill>
                <a:latin typeface="Georgia"/>
                <a:ea typeface="Georgia"/>
                <a:cs typeface="Georgia"/>
                <a:sym typeface="Georgia"/>
              </a:rPr>
              <a:t>D+0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3337560" y="26060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Mesmo dia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3520440" y="297180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FIDC com janela intradiária (ex: meio-dia). Crédito no mesmo dia para solicitações antes do corte.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611880" y="4206240"/>
            <a:ext cx="2148840" cy="320040"/>
          </a:xfrm>
          <a:prstGeom prst="rect">
            <a:avLst/>
          </a:prstGeom>
          <a:solidFill>
            <a:srgbClr val="F0A5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3611880" y="42062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Escala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217920" y="1417320"/>
            <a:ext cx="2697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6217920" y="1417320"/>
            <a:ext cx="2697480" cy="7315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7178040" y="1600200"/>
            <a:ext cx="502920" cy="50292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88682" y="171084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/>
          <p:nvPr/>
        </p:nvSpPr>
        <p:spPr>
          <a:xfrm>
            <a:off x="6217920" y="21945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2E8B57"/>
                </a:solidFill>
                <a:latin typeface="Georgia"/>
                <a:ea typeface="Georgia"/>
                <a:cs typeface="Georgia"/>
                <a:sym typeface="Georgia"/>
              </a:rPr>
              <a:t>Imediato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217920" y="26060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Minutos / 24/7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400800" y="297180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API automatizada ou capital pré-depositado na plataforma. Crédito instantâneo inclusive fins de semana.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492240" y="4206240"/>
            <a:ext cx="2148840" cy="320040"/>
          </a:xfrm>
          <a:prstGeom prst="rect">
            <a:avLst/>
          </a:prstGeom>
          <a:solidFill>
            <a:srgbClr val="2E8B57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6492240" y="42062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Diferenciação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Roadmap de Implantação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11"/>
          <p:cNvCxnSpPr/>
          <p:nvPr/>
        </p:nvCxnSpPr>
        <p:spPr>
          <a:xfrm>
            <a:off x="1371600" y="1371600"/>
            <a:ext cx="6400800" cy="0"/>
          </a:xfrm>
          <a:prstGeom prst="straightConnector1">
            <a:avLst/>
          </a:prstGeom>
          <a:noFill/>
          <a:ln cap="flat" cmpd="sng" w="381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11"/>
          <p:cNvSpPr/>
          <p:nvPr/>
        </p:nvSpPr>
        <p:spPr>
          <a:xfrm>
            <a:off x="1143000" y="1143000"/>
            <a:ext cx="457200" cy="457200"/>
          </a:xfrm>
          <a:prstGeom prst="ellipse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731520" y="16276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D+1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274320" y="1965960"/>
            <a:ext cx="21945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274320" y="1965960"/>
            <a:ext cx="219456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274320" y="21031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274320" y="23317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Lançamento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57200" y="278892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Acordo operacional com FIDC para listagem diária. Simplicidade. Go-to-market rápido.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3886200" y="1143000"/>
            <a:ext cx="457200" cy="457200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3474720" y="16276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D+0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3017520" y="1965960"/>
            <a:ext cx="21945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3017520" y="1965960"/>
            <a:ext cx="219456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3017520" y="21031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3017520" y="23317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Escala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3200400" y="278892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Janela de transferência intradiária definida com FIDC. Crédito no mesmo dia. Maior adesão.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6629400" y="114300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6217920" y="16276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Imediato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5760720" y="1965960"/>
            <a:ext cx="21945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5760720" y="1965960"/>
            <a:ext cx="2194560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760720" y="21031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5760720" y="23317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Diferenciação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5943600" y="278892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API com FIDC ou acordo de pré-depósito. Liquidez instantânea 24/7. Vantagem competitiva.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FFFBF0"/>
          </a:solidFill>
          <a:ln cap="flat" cmpd="sng" w="190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Trade-off:  Capital no FIDC = mais rentabilidade  |  Pré-depósito na plataforma = crédito instantâneo 24/7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Segurança e Compliance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9" name="Google Shape;3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430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2"/>
          <p:cNvSpPr/>
          <p:nvPr/>
        </p:nvSpPr>
        <p:spPr>
          <a:xfrm>
            <a:off x="1097280" y="10972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PLD/FT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640080" y="15087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Pagamentos exclusivamente para contas vinculadas ao CPF/CNPJ. Zero pagamentos a terceiros.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457200" y="2286000"/>
            <a:ext cx="54864" cy="10972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423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/>
          <p:nvPr/>
        </p:nvSpPr>
        <p:spPr>
          <a:xfrm>
            <a:off x="1097280" y="23774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Contas Escrow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640080" y="27889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Cada CPF e CNPJ com conta dedicada sob controle da plataforma. Total rastreabilidade.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457200" y="3566160"/>
            <a:ext cx="54864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703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2"/>
          <p:cNvSpPr/>
          <p:nvPr/>
        </p:nvSpPr>
        <p:spPr>
          <a:xfrm>
            <a:off x="1097280" y="36576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Trava de Domicílio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640080" y="40690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Recebíveis direcionados para escrow. Em CNPJs, trava no CNPJ inteiro.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754880" y="100584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4754880" y="1005840"/>
            <a:ext cx="54864" cy="109728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11430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2"/>
          <p:cNvSpPr/>
          <p:nvPr/>
        </p:nvSpPr>
        <p:spPr>
          <a:xfrm>
            <a:off x="5394960" y="10972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4937760" y="15087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Só antecipáveis após check-in/out + confirmação da supervisão hospitalar.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754880" y="228600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4754880" y="2286000"/>
            <a:ext cx="54864" cy="10972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7760" y="2423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5394960" y="23774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Auditoria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937760" y="27889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Trilha completa desde solicitação até liquidação final com o FIDC.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4754880" y="3566160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4754880" y="3566160"/>
            <a:ext cx="54864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4" name="Google Shape;37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3703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2"/>
          <p:cNvSpPr/>
          <p:nvPr/>
        </p:nvSpPr>
        <p:spPr>
          <a:xfrm>
            <a:off x="5394960" y="36576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Confidencialidade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4937760" y="40690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Antecipações individuais sigilosas. Nem médicos nem administração têm visibilidade.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3a772e3e9_0_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93a772e3e9_0_0"/>
          <p:cNvSpPr/>
          <p:nvPr/>
        </p:nvSpPr>
        <p:spPr>
          <a:xfrm>
            <a:off x="274320" y="109728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Fluxograma Médicos (1/2)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93a772e3e9_0_0"/>
          <p:cNvSpPr/>
          <p:nvPr/>
        </p:nvSpPr>
        <p:spPr>
          <a:xfrm>
            <a:off x="228600" y="594360"/>
            <a:ext cx="1051500" cy="347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93a772e3e9_0_0"/>
          <p:cNvSpPr/>
          <p:nvPr/>
        </p:nvSpPr>
        <p:spPr>
          <a:xfrm>
            <a:off x="228600" y="594360"/>
            <a:ext cx="1051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Cadastro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93a772e3e9_0_0"/>
          <p:cNvSpPr/>
          <p:nvPr/>
        </p:nvSpPr>
        <p:spPr>
          <a:xfrm>
            <a:off x="1280160" y="594360"/>
            <a:ext cx="109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93a772e3e9_0_0"/>
          <p:cNvSpPr/>
          <p:nvPr/>
        </p:nvSpPr>
        <p:spPr>
          <a:xfrm>
            <a:off x="1389888" y="594360"/>
            <a:ext cx="1051500" cy="347400"/>
          </a:xfrm>
          <a:prstGeom prst="rect">
            <a:avLst/>
          </a:prstGeom>
          <a:solidFill>
            <a:srgbClr val="2E7D9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93a772e3e9_0_0"/>
          <p:cNvSpPr/>
          <p:nvPr/>
        </p:nvSpPr>
        <p:spPr>
          <a:xfrm>
            <a:off x="1389888" y="594360"/>
            <a:ext cx="1051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Agendamento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93a772e3e9_0_0"/>
          <p:cNvSpPr/>
          <p:nvPr/>
        </p:nvSpPr>
        <p:spPr>
          <a:xfrm>
            <a:off x="2441448" y="594360"/>
            <a:ext cx="109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93a772e3e9_0_0"/>
          <p:cNvSpPr/>
          <p:nvPr/>
        </p:nvSpPr>
        <p:spPr>
          <a:xfrm>
            <a:off x="2551176" y="594360"/>
            <a:ext cx="1051500" cy="3474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93a772e3e9_0_0"/>
          <p:cNvSpPr/>
          <p:nvPr/>
        </p:nvSpPr>
        <p:spPr>
          <a:xfrm>
            <a:off x="2551176" y="594360"/>
            <a:ext cx="1051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Aprovação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93a772e3e9_0_0"/>
          <p:cNvSpPr/>
          <p:nvPr/>
        </p:nvSpPr>
        <p:spPr>
          <a:xfrm>
            <a:off x="3602736" y="594360"/>
            <a:ext cx="109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93a772e3e9_0_0"/>
          <p:cNvSpPr/>
          <p:nvPr/>
        </p:nvSpPr>
        <p:spPr>
          <a:xfrm>
            <a:off x="3712464" y="594360"/>
            <a:ext cx="1051500" cy="34740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93a772e3e9_0_0"/>
          <p:cNvSpPr/>
          <p:nvPr/>
        </p:nvSpPr>
        <p:spPr>
          <a:xfrm>
            <a:off x="3712464" y="594360"/>
            <a:ext cx="1051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Check-in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93a772e3e9_0_0"/>
          <p:cNvSpPr/>
          <p:nvPr/>
        </p:nvSpPr>
        <p:spPr>
          <a:xfrm>
            <a:off x="4764024" y="594360"/>
            <a:ext cx="109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93a772e3e9_0_0"/>
          <p:cNvSpPr/>
          <p:nvPr/>
        </p:nvSpPr>
        <p:spPr>
          <a:xfrm>
            <a:off x="4873752" y="594360"/>
            <a:ext cx="1051500" cy="34740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93a772e3e9_0_0"/>
          <p:cNvSpPr/>
          <p:nvPr/>
        </p:nvSpPr>
        <p:spPr>
          <a:xfrm>
            <a:off x="4873752" y="594360"/>
            <a:ext cx="1051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Check-out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93a772e3e9_0_0"/>
          <p:cNvSpPr/>
          <p:nvPr/>
        </p:nvSpPr>
        <p:spPr>
          <a:xfrm>
            <a:off x="5925312" y="594360"/>
            <a:ext cx="109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93a772e3e9_0_0"/>
          <p:cNvSpPr/>
          <p:nvPr/>
        </p:nvSpPr>
        <p:spPr>
          <a:xfrm>
            <a:off x="6035040" y="594360"/>
            <a:ext cx="1051500" cy="347400"/>
          </a:xfrm>
          <a:prstGeom prst="rect">
            <a:avLst/>
          </a:prstGeom>
          <a:solidFill>
            <a:srgbClr val="2E7D9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93a772e3e9_0_0"/>
          <p:cNvSpPr/>
          <p:nvPr/>
        </p:nvSpPr>
        <p:spPr>
          <a:xfrm>
            <a:off x="6035040" y="594360"/>
            <a:ext cx="1051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Validação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93a772e3e9_0_0"/>
          <p:cNvSpPr/>
          <p:nvPr/>
        </p:nvSpPr>
        <p:spPr>
          <a:xfrm>
            <a:off x="7086600" y="594360"/>
            <a:ext cx="109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93a772e3e9_0_0"/>
          <p:cNvSpPr/>
          <p:nvPr/>
        </p:nvSpPr>
        <p:spPr>
          <a:xfrm>
            <a:off x="7196328" y="594360"/>
            <a:ext cx="1051500" cy="347400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93a772e3e9_0_0"/>
          <p:cNvSpPr/>
          <p:nvPr/>
        </p:nvSpPr>
        <p:spPr>
          <a:xfrm>
            <a:off x="7196328" y="594360"/>
            <a:ext cx="1051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Disponível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93a772e3e9_0_0"/>
          <p:cNvSpPr/>
          <p:nvPr/>
        </p:nvSpPr>
        <p:spPr>
          <a:xfrm>
            <a:off x="3749040" y="1234440"/>
            <a:ext cx="1645800" cy="502800"/>
          </a:xfrm>
          <a:prstGeom prst="rect">
            <a:avLst/>
          </a:prstGeom>
          <a:solidFill>
            <a:srgbClr val="FFFBF0"/>
          </a:solidFill>
          <a:ln cap="flat" cmpd="sng" w="254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93a772e3e9_0_0"/>
          <p:cNvSpPr/>
          <p:nvPr/>
        </p:nvSpPr>
        <p:spPr>
          <a:xfrm>
            <a:off x="3749040" y="1234440"/>
            <a:ext cx="164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CPF ou CNPJ?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g393a772e3e9_0_0"/>
          <p:cNvCxnSpPr/>
          <p:nvPr/>
        </p:nvCxnSpPr>
        <p:spPr>
          <a:xfrm rot="10800000">
            <a:off x="2011740" y="1485900"/>
            <a:ext cx="1737300" cy="0"/>
          </a:xfrm>
          <a:prstGeom prst="straightConnector1">
            <a:avLst/>
          </a:prstGeom>
          <a:noFill/>
          <a:ln cap="flat" cmpd="sng" w="1905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g393a772e3e9_0_0"/>
          <p:cNvSpPr/>
          <p:nvPr/>
        </p:nvSpPr>
        <p:spPr>
          <a:xfrm>
            <a:off x="1645920" y="1284732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CPF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g393a772e3e9_0_0"/>
          <p:cNvCxnSpPr/>
          <p:nvPr/>
        </p:nvCxnSpPr>
        <p:spPr>
          <a:xfrm>
            <a:off x="2011680" y="1485900"/>
            <a:ext cx="0" cy="388500"/>
          </a:xfrm>
          <a:prstGeom prst="straightConnector1">
            <a:avLst/>
          </a:prstGeom>
          <a:noFill/>
          <a:ln cap="flat" cmpd="sng" w="1905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g393a772e3e9_0_0"/>
          <p:cNvSpPr/>
          <p:nvPr/>
        </p:nvSpPr>
        <p:spPr>
          <a:xfrm>
            <a:off x="365760" y="1874520"/>
            <a:ext cx="3291900" cy="2559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93a772e3e9_0_0"/>
          <p:cNvSpPr/>
          <p:nvPr/>
        </p:nvSpPr>
        <p:spPr>
          <a:xfrm>
            <a:off x="365760" y="1874520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FLUXO CPF — PESSOA FÍSICA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93a772e3e9_0_0"/>
          <p:cNvSpPr/>
          <p:nvPr/>
        </p:nvSpPr>
        <p:spPr>
          <a:xfrm>
            <a:off x="457200" y="2194560"/>
            <a:ext cx="3108900" cy="228600"/>
          </a:xfrm>
          <a:prstGeom prst="rect">
            <a:avLst/>
          </a:prstGeom>
          <a:solidFill>
            <a:srgbClr val="D4EDD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93a772e3e9_0_0"/>
          <p:cNvSpPr/>
          <p:nvPr/>
        </p:nvSpPr>
        <p:spPr>
          <a:xfrm>
            <a:off x="457200" y="2194560"/>
            <a:ext cx="310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8. Solicita antecipação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93a772e3e9_0_0"/>
          <p:cNvSpPr/>
          <p:nvPr/>
        </p:nvSpPr>
        <p:spPr>
          <a:xfrm>
            <a:off x="457200" y="2423160"/>
            <a:ext cx="310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Médico seleciona recebível no app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g393a772e3e9_0_0"/>
          <p:cNvCxnSpPr/>
          <p:nvPr/>
        </p:nvCxnSpPr>
        <p:spPr>
          <a:xfrm>
            <a:off x="2011680" y="2423160"/>
            <a:ext cx="0" cy="301800"/>
          </a:xfrm>
          <a:prstGeom prst="straightConnector1">
            <a:avLst/>
          </a:prstGeom>
          <a:noFill/>
          <a:ln cap="flat" cmpd="sng" w="1905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g393a772e3e9_0_0"/>
          <p:cNvSpPr/>
          <p:nvPr/>
        </p:nvSpPr>
        <p:spPr>
          <a:xfrm>
            <a:off x="457200" y="2724912"/>
            <a:ext cx="3108900" cy="228600"/>
          </a:xfrm>
          <a:prstGeom prst="rect">
            <a:avLst/>
          </a:prstGeom>
          <a:solidFill>
            <a:srgbClr val="D4EDD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93a772e3e9_0_0"/>
          <p:cNvSpPr/>
          <p:nvPr/>
        </p:nvSpPr>
        <p:spPr>
          <a:xfrm>
            <a:off x="457200" y="2724912"/>
            <a:ext cx="310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9. Trava de domicílio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93a772e3e9_0_0"/>
          <p:cNvSpPr/>
          <p:nvPr/>
        </p:nvSpPr>
        <p:spPr>
          <a:xfrm>
            <a:off x="457200" y="2953512"/>
            <a:ext cx="310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Conta escrow vinculada ao CPF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8" name="Google Shape;418;g393a772e3e9_0_0"/>
          <p:cNvCxnSpPr/>
          <p:nvPr/>
        </p:nvCxnSpPr>
        <p:spPr>
          <a:xfrm>
            <a:off x="2011680" y="2953512"/>
            <a:ext cx="0" cy="301800"/>
          </a:xfrm>
          <a:prstGeom prst="straightConnector1">
            <a:avLst/>
          </a:prstGeom>
          <a:noFill/>
          <a:ln cap="flat" cmpd="sng" w="1905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g393a772e3e9_0_0"/>
          <p:cNvSpPr/>
          <p:nvPr/>
        </p:nvSpPr>
        <p:spPr>
          <a:xfrm>
            <a:off x="457200" y="3255264"/>
            <a:ext cx="3108900" cy="228600"/>
          </a:xfrm>
          <a:prstGeom prst="rect">
            <a:avLst/>
          </a:prstGeom>
          <a:solidFill>
            <a:srgbClr val="D4EDD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93a772e3e9_0_0"/>
          <p:cNvSpPr/>
          <p:nvPr/>
        </p:nvSpPr>
        <p:spPr>
          <a:xfrm>
            <a:off x="457200" y="3255264"/>
            <a:ext cx="310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10. FIDC transfere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93a772e3e9_0_0"/>
          <p:cNvSpPr/>
          <p:nvPr/>
        </p:nvSpPr>
        <p:spPr>
          <a:xfrm>
            <a:off x="457200" y="3483864"/>
            <a:ext cx="310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FIDC → Conta Liquidação → CPF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93a772e3e9_0_0"/>
          <p:cNvSpPr/>
          <p:nvPr/>
        </p:nvSpPr>
        <p:spPr>
          <a:xfrm>
            <a:off x="365760" y="3840480"/>
            <a:ext cx="3291900" cy="2286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93a772e3e9_0_0"/>
          <p:cNvSpPr/>
          <p:nvPr/>
        </p:nvSpPr>
        <p:spPr>
          <a:xfrm>
            <a:off x="365760" y="3840480"/>
            <a:ext cx="329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Zero pagamento a terceiros (PLD/FT)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g393a772e3e9_0_0"/>
          <p:cNvCxnSpPr/>
          <p:nvPr/>
        </p:nvCxnSpPr>
        <p:spPr>
          <a:xfrm>
            <a:off x="5394960" y="1485900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2E7D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g393a772e3e9_0_0"/>
          <p:cNvSpPr/>
          <p:nvPr/>
        </p:nvSpPr>
        <p:spPr>
          <a:xfrm>
            <a:off x="6400800" y="1284732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CNPJ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g393a772e3e9_0_0"/>
          <p:cNvCxnSpPr/>
          <p:nvPr/>
        </p:nvCxnSpPr>
        <p:spPr>
          <a:xfrm>
            <a:off x="6766560" y="1485900"/>
            <a:ext cx="0" cy="388500"/>
          </a:xfrm>
          <a:prstGeom prst="straightConnector1">
            <a:avLst/>
          </a:prstGeom>
          <a:noFill/>
          <a:ln cap="flat" cmpd="sng" w="19050">
            <a:solidFill>
              <a:srgbClr val="2E7D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g393a772e3e9_0_0"/>
          <p:cNvSpPr/>
          <p:nvPr/>
        </p:nvSpPr>
        <p:spPr>
          <a:xfrm>
            <a:off x="5120640" y="1874520"/>
            <a:ext cx="3657600" cy="25590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93a772e3e9_0_0"/>
          <p:cNvSpPr/>
          <p:nvPr/>
        </p:nvSpPr>
        <p:spPr>
          <a:xfrm>
            <a:off x="5120640" y="187452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FLUXO CNPJ — PESSOA JURÍDICA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93a772e3e9_0_0"/>
          <p:cNvSpPr/>
          <p:nvPr/>
        </p:nvSpPr>
        <p:spPr>
          <a:xfrm>
            <a:off x="5394960" y="2194560"/>
            <a:ext cx="3108900" cy="228600"/>
          </a:xfrm>
          <a:prstGeom prst="rect">
            <a:avLst/>
          </a:prstGeom>
          <a:solidFill>
            <a:srgbClr val="E8F0F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93a772e3e9_0_0"/>
          <p:cNvSpPr/>
          <p:nvPr/>
        </p:nvSpPr>
        <p:spPr>
          <a:xfrm>
            <a:off x="5394960" y="2194560"/>
            <a:ext cx="310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8. Admin autoriza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93a772e3e9_0_0"/>
          <p:cNvSpPr/>
          <p:nvPr/>
        </p:nvSpPr>
        <p:spPr>
          <a:xfrm>
            <a:off x="5394960" y="2423160"/>
            <a:ext cx="310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Doc específico PJ (diferente do CPF)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g393a772e3e9_0_0"/>
          <p:cNvCxnSpPr/>
          <p:nvPr/>
        </p:nvCxnSpPr>
        <p:spPr>
          <a:xfrm>
            <a:off x="6949440" y="2423160"/>
            <a:ext cx="0" cy="301800"/>
          </a:xfrm>
          <a:prstGeom prst="straightConnector1">
            <a:avLst/>
          </a:prstGeom>
          <a:noFill/>
          <a:ln cap="flat" cmpd="sng" w="19050">
            <a:solidFill>
              <a:srgbClr val="2E7D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g393a772e3e9_0_0"/>
          <p:cNvSpPr/>
          <p:nvPr/>
        </p:nvSpPr>
        <p:spPr>
          <a:xfrm>
            <a:off x="5394960" y="2724912"/>
            <a:ext cx="3108900" cy="228600"/>
          </a:xfrm>
          <a:prstGeom prst="rect">
            <a:avLst/>
          </a:prstGeom>
          <a:solidFill>
            <a:srgbClr val="E8F0F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93a772e3e9_0_0"/>
          <p:cNvSpPr/>
          <p:nvPr/>
        </p:nvSpPr>
        <p:spPr>
          <a:xfrm>
            <a:off x="5394960" y="2724912"/>
            <a:ext cx="310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9. Trava de domicílio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93a772e3e9_0_0"/>
          <p:cNvSpPr/>
          <p:nvPr/>
        </p:nvSpPr>
        <p:spPr>
          <a:xfrm>
            <a:off x="5394960" y="2953512"/>
            <a:ext cx="310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Abrange todo o CNPJ (obrigatório)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6" name="Google Shape;436;g393a772e3e9_0_0"/>
          <p:cNvCxnSpPr/>
          <p:nvPr/>
        </p:nvCxnSpPr>
        <p:spPr>
          <a:xfrm>
            <a:off x="6949440" y="3044952"/>
            <a:ext cx="0" cy="246900"/>
          </a:xfrm>
          <a:prstGeom prst="straightConnector1">
            <a:avLst/>
          </a:prstGeom>
          <a:noFill/>
          <a:ln cap="flat" cmpd="sng" w="19050">
            <a:solidFill>
              <a:srgbClr val="2E7D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g393a772e3e9_0_0"/>
          <p:cNvSpPr/>
          <p:nvPr/>
        </p:nvSpPr>
        <p:spPr>
          <a:xfrm>
            <a:off x="5577840" y="3291840"/>
            <a:ext cx="2743200" cy="365700"/>
          </a:xfrm>
          <a:prstGeom prst="rect">
            <a:avLst/>
          </a:prstGeom>
          <a:solidFill>
            <a:srgbClr val="FFFBF0"/>
          </a:solidFill>
          <a:ln cap="flat" cmpd="sng" w="254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93a772e3e9_0_0"/>
          <p:cNvSpPr/>
          <p:nvPr/>
        </p:nvSpPr>
        <p:spPr>
          <a:xfrm>
            <a:off x="5577840" y="329184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Unipessoal?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93a772e3e9_0_0"/>
          <p:cNvSpPr/>
          <p:nvPr/>
        </p:nvSpPr>
        <p:spPr>
          <a:xfrm>
            <a:off x="5120640" y="3364992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93a772e3e9_0_0"/>
          <p:cNvSpPr/>
          <p:nvPr/>
        </p:nvSpPr>
        <p:spPr>
          <a:xfrm>
            <a:off x="8321040" y="3364992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" name="Google Shape;441;g393a772e3e9_0_0"/>
          <p:cNvCxnSpPr/>
          <p:nvPr/>
        </p:nvCxnSpPr>
        <p:spPr>
          <a:xfrm>
            <a:off x="5852160" y="3657600"/>
            <a:ext cx="0" cy="91500"/>
          </a:xfrm>
          <a:prstGeom prst="straightConnector1">
            <a:avLst/>
          </a:prstGeom>
          <a:noFill/>
          <a:ln cap="flat" cmpd="sng" w="1905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g393a772e3e9_0_0"/>
          <p:cNvSpPr/>
          <p:nvPr/>
        </p:nvSpPr>
        <p:spPr>
          <a:xfrm>
            <a:off x="5029200" y="3749040"/>
            <a:ext cx="1783200" cy="41160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93a772e3e9_0_0"/>
          <p:cNvSpPr/>
          <p:nvPr/>
        </p:nvSpPr>
        <p:spPr>
          <a:xfrm>
            <a:off x="5029200" y="3749040"/>
            <a:ext cx="178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Split 30/70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 Antecipação direta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4" name="Google Shape;444;g393a772e3e9_0_0"/>
          <p:cNvCxnSpPr/>
          <p:nvPr/>
        </p:nvCxnSpPr>
        <p:spPr>
          <a:xfrm>
            <a:off x="8046720" y="3657600"/>
            <a:ext cx="0" cy="91500"/>
          </a:xfrm>
          <a:prstGeom prst="straightConnector1">
            <a:avLst/>
          </a:prstGeom>
          <a:noFill/>
          <a:ln cap="flat" cmpd="sng" w="1905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g393a772e3e9_0_0"/>
          <p:cNvSpPr/>
          <p:nvPr/>
        </p:nvSpPr>
        <p:spPr>
          <a:xfrm>
            <a:off x="7086600" y="3749040"/>
            <a:ext cx="1783200" cy="411600"/>
          </a:xfrm>
          <a:prstGeom prst="rect">
            <a:avLst/>
          </a:prstGeom>
          <a:solidFill>
            <a:srgbClr val="E8F0F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93a772e3e9_0_0"/>
          <p:cNvSpPr/>
          <p:nvPr/>
        </p:nvSpPr>
        <p:spPr>
          <a:xfrm>
            <a:off x="7086600" y="3749040"/>
            <a:ext cx="178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por médico vinculado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g393a772e3e9_0_0"/>
          <p:cNvCxnSpPr/>
          <p:nvPr/>
        </p:nvCxnSpPr>
        <p:spPr>
          <a:xfrm>
            <a:off x="8046720" y="4160520"/>
            <a:ext cx="0" cy="91500"/>
          </a:xfrm>
          <a:prstGeom prst="straightConnector1">
            <a:avLst/>
          </a:prstGeom>
          <a:noFill/>
          <a:ln cap="flat" cmpd="sng" w="19050">
            <a:solidFill>
              <a:srgbClr val="2E7D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g393a772e3e9_0_0"/>
          <p:cNvSpPr/>
          <p:nvPr/>
        </p:nvSpPr>
        <p:spPr>
          <a:xfrm>
            <a:off x="7132320" y="4251960"/>
            <a:ext cx="1691700" cy="320100"/>
          </a:xfrm>
          <a:prstGeom prst="rect">
            <a:avLst/>
          </a:prstGeom>
          <a:solidFill>
            <a:srgbClr val="FFFBF0"/>
          </a:solidFill>
          <a:ln cap="flat" cmpd="sng" w="190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93a772e3e9_0_0"/>
          <p:cNvSpPr/>
          <p:nvPr/>
        </p:nvSpPr>
        <p:spPr>
          <a:xfrm>
            <a:off x="7132320" y="4251960"/>
            <a:ext cx="169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Antecipou?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93a772e3e9_0_0"/>
          <p:cNvSpPr/>
          <p:nvPr/>
        </p:nvSpPr>
        <p:spPr>
          <a:xfrm>
            <a:off x="274320" y="4709160"/>
            <a:ext cx="8595300" cy="274200"/>
          </a:xfrm>
          <a:prstGeom prst="rect">
            <a:avLst/>
          </a:prstGeom>
          <a:solidFill>
            <a:srgbClr val="FFFBF0"/>
          </a:solidFill>
          <a:ln cap="flat" cmpd="sng" w="1270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93a772e3e9_0_0"/>
          <p:cNvSpPr/>
          <p:nvPr/>
        </p:nvSpPr>
        <p:spPr>
          <a:xfrm>
            <a:off x="457200" y="470916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Confidencialidade: nenhum médico ou admin sabe se outro antecipou  |  Continua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93a772e3e9_0_7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93a772e3e9_0_74"/>
          <p:cNvSpPr/>
          <p:nvPr/>
        </p:nvSpPr>
        <p:spPr>
          <a:xfrm>
            <a:off x="274320" y="109728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Fluxograma Médicos (2/2) — Liquidação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93a772e3e9_0_74"/>
          <p:cNvSpPr/>
          <p:nvPr/>
        </p:nvSpPr>
        <p:spPr>
          <a:xfrm>
            <a:off x="457200" y="59436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Todos os caminhos (CPF, CNPJ Unipessoal, CNPJ Multi) convergem para a liquidação: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93a772e3e9_0_74"/>
          <p:cNvSpPr/>
          <p:nvPr/>
        </p:nvSpPr>
        <p:spPr>
          <a:xfrm>
            <a:off x="457200" y="1051560"/>
            <a:ext cx="2469000" cy="36570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93a772e3e9_0_74"/>
          <p:cNvSpPr/>
          <p:nvPr/>
        </p:nvSpPr>
        <p:spPr>
          <a:xfrm>
            <a:off x="457200" y="105156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CPF — Etapas 8-10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93a772e3e9_0_74"/>
          <p:cNvSpPr/>
          <p:nvPr/>
        </p:nvSpPr>
        <p:spPr>
          <a:xfrm>
            <a:off x="3337560" y="1051560"/>
            <a:ext cx="2469000" cy="365700"/>
          </a:xfrm>
          <a:prstGeom prst="rect">
            <a:avLst/>
          </a:prstGeom>
          <a:solidFill>
            <a:srgbClr val="2E7D9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93a772e3e9_0_74"/>
          <p:cNvSpPr/>
          <p:nvPr/>
        </p:nvSpPr>
        <p:spPr>
          <a:xfrm>
            <a:off x="3337560" y="105156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CNPJ Unipessoal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93a772e3e9_0_74"/>
          <p:cNvSpPr/>
          <p:nvPr/>
        </p:nvSpPr>
        <p:spPr>
          <a:xfrm>
            <a:off x="6217920" y="1051560"/>
            <a:ext cx="2469000" cy="3657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93a772e3e9_0_74"/>
          <p:cNvSpPr/>
          <p:nvPr/>
        </p:nvSpPr>
        <p:spPr>
          <a:xfrm>
            <a:off x="6217920" y="105156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CNPJ Multi-sócio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g393a772e3e9_0_74"/>
          <p:cNvCxnSpPr/>
          <p:nvPr/>
        </p:nvCxnSpPr>
        <p:spPr>
          <a:xfrm>
            <a:off x="1691640" y="1417320"/>
            <a:ext cx="0" cy="183000"/>
          </a:xfrm>
          <a:prstGeom prst="straightConnector1">
            <a:avLst/>
          </a:prstGeom>
          <a:noFill/>
          <a:ln cap="flat" cmpd="sng" w="19050">
            <a:solidFill>
              <a:srgbClr val="2E8B57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67" name="Google Shape;467;g393a772e3e9_0_74"/>
          <p:cNvCxnSpPr/>
          <p:nvPr/>
        </p:nvCxnSpPr>
        <p:spPr>
          <a:xfrm>
            <a:off x="4572000" y="1417320"/>
            <a:ext cx="0" cy="183000"/>
          </a:xfrm>
          <a:prstGeom prst="straightConnector1">
            <a:avLst/>
          </a:prstGeom>
          <a:noFill/>
          <a:ln cap="flat" cmpd="sng" w="19050">
            <a:solidFill>
              <a:srgbClr val="2E7D9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68" name="Google Shape;468;g393a772e3e9_0_74"/>
          <p:cNvCxnSpPr/>
          <p:nvPr/>
        </p:nvCxnSpPr>
        <p:spPr>
          <a:xfrm>
            <a:off x="7452360" y="1417320"/>
            <a:ext cx="0" cy="183000"/>
          </a:xfrm>
          <a:prstGeom prst="straightConnector1">
            <a:avLst/>
          </a:prstGeom>
          <a:noFill/>
          <a:ln cap="flat" cmpd="sng" w="19050">
            <a:solidFill>
              <a:srgbClr val="1B3A5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69" name="Google Shape;469;g393a772e3e9_0_74"/>
          <p:cNvSpPr/>
          <p:nvPr/>
        </p:nvSpPr>
        <p:spPr>
          <a:xfrm>
            <a:off x="457200" y="1600200"/>
            <a:ext cx="8229600" cy="549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93a772e3e9_0_74"/>
          <p:cNvSpPr/>
          <p:nvPr/>
        </p:nvSpPr>
        <p:spPr>
          <a:xfrm>
            <a:off x="457200" y="16916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▼  LIQUIDAÇÃO (FLUXO COMUM)  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93a772e3e9_0_74"/>
          <p:cNvSpPr/>
          <p:nvPr/>
        </p:nvSpPr>
        <p:spPr>
          <a:xfrm>
            <a:off x="548640" y="2404872"/>
            <a:ext cx="548700" cy="548700"/>
          </a:xfrm>
          <a:prstGeom prst="ellipse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93a772e3e9_0_74"/>
          <p:cNvSpPr/>
          <p:nvPr/>
        </p:nvSpPr>
        <p:spPr>
          <a:xfrm>
            <a:off x="548640" y="240487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93a772e3e9_0_74"/>
          <p:cNvSpPr/>
          <p:nvPr/>
        </p:nvSpPr>
        <p:spPr>
          <a:xfrm>
            <a:off x="1280160" y="2331720"/>
            <a:ext cx="7406700" cy="713100"/>
          </a:xfrm>
          <a:prstGeom prst="rect">
            <a:avLst/>
          </a:prstGeom>
          <a:solidFill>
            <a:srgbClr val="F4F8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93a772e3e9_0_74"/>
          <p:cNvSpPr/>
          <p:nvPr/>
        </p:nvSpPr>
        <p:spPr>
          <a:xfrm>
            <a:off x="1280160" y="2331720"/>
            <a:ext cx="54900" cy="713100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93a772e3e9_0_74"/>
          <p:cNvSpPr/>
          <p:nvPr/>
        </p:nvSpPr>
        <p:spPr>
          <a:xfrm>
            <a:off x="1463040" y="2377440"/>
            <a:ext cx="704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Hospital paga recebível no vencimento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93a772e3e9_0_74"/>
          <p:cNvSpPr/>
          <p:nvPr/>
        </p:nvSpPr>
        <p:spPr>
          <a:xfrm>
            <a:off x="1463040" y="2679192"/>
            <a:ext cx="7041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Valor direcionado para conta escrow sob controle da plataforma. Pagamento integral conforme contrato original.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g393a772e3e9_0_74"/>
          <p:cNvCxnSpPr/>
          <p:nvPr/>
        </p:nvCxnSpPr>
        <p:spPr>
          <a:xfrm>
            <a:off x="822960" y="2953512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g393a772e3e9_0_74"/>
          <p:cNvSpPr/>
          <p:nvPr/>
        </p:nvSpPr>
        <p:spPr>
          <a:xfrm>
            <a:off x="548640" y="3273552"/>
            <a:ext cx="548700" cy="5487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93a772e3e9_0_74"/>
          <p:cNvSpPr/>
          <p:nvPr/>
        </p:nvSpPr>
        <p:spPr>
          <a:xfrm>
            <a:off x="548640" y="327355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93a772e3e9_0_74"/>
          <p:cNvSpPr/>
          <p:nvPr/>
        </p:nvSpPr>
        <p:spPr>
          <a:xfrm>
            <a:off x="1280160" y="3200400"/>
            <a:ext cx="7406700" cy="713100"/>
          </a:xfrm>
          <a:prstGeom prst="rect">
            <a:avLst/>
          </a:prstGeom>
          <a:solidFill>
            <a:srgbClr val="F4F8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93a772e3e9_0_74"/>
          <p:cNvSpPr/>
          <p:nvPr/>
        </p:nvSpPr>
        <p:spPr>
          <a:xfrm>
            <a:off x="1280160" y="3200400"/>
            <a:ext cx="54900" cy="713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93a772e3e9_0_74"/>
          <p:cNvSpPr/>
          <p:nvPr/>
        </p:nvSpPr>
        <p:spPr>
          <a:xfrm>
            <a:off x="1463040" y="3246120"/>
            <a:ext cx="704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Plataforma abate principal + juros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93a772e3e9_0_74"/>
          <p:cNvSpPr/>
          <p:nvPr/>
        </p:nvSpPr>
        <p:spPr>
          <a:xfrm>
            <a:off x="1463040" y="3547872"/>
            <a:ext cx="7041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Envia para cesta de recebíveis. Excedente transferido para conta do médico. Conciliação automática.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4" name="Google Shape;484;g393a772e3e9_0_74"/>
          <p:cNvCxnSpPr/>
          <p:nvPr/>
        </p:nvCxnSpPr>
        <p:spPr>
          <a:xfrm>
            <a:off x="822960" y="3822192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g393a772e3e9_0_74"/>
          <p:cNvSpPr/>
          <p:nvPr/>
        </p:nvSpPr>
        <p:spPr>
          <a:xfrm>
            <a:off x="548640" y="4142232"/>
            <a:ext cx="548700" cy="5487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93a772e3e9_0_74"/>
          <p:cNvSpPr/>
          <p:nvPr/>
        </p:nvSpPr>
        <p:spPr>
          <a:xfrm>
            <a:off x="548640" y="414223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93a772e3e9_0_74"/>
          <p:cNvSpPr/>
          <p:nvPr/>
        </p:nvSpPr>
        <p:spPr>
          <a:xfrm>
            <a:off x="1280160" y="4069080"/>
            <a:ext cx="7406700" cy="713100"/>
          </a:xfrm>
          <a:prstGeom prst="rect">
            <a:avLst/>
          </a:prstGeom>
          <a:solidFill>
            <a:srgbClr val="F4F8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93a772e3e9_0_74"/>
          <p:cNvSpPr/>
          <p:nvPr/>
        </p:nvSpPr>
        <p:spPr>
          <a:xfrm>
            <a:off x="1280160" y="4069080"/>
            <a:ext cx="54900" cy="7131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93a772e3e9_0_74"/>
          <p:cNvSpPr/>
          <p:nvPr/>
        </p:nvSpPr>
        <p:spPr>
          <a:xfrm>
            <a:off x="1463040" y="4114800"/>
            <a:ext cx="704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Repasse automático ao FIDC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93a772e3e9_0_74"/>
          <p:cNvSpPr/>
          <p:nvPr/>
        </p:nvSpPr>
        <p:spPr>
          <a:xfrm>
            <a:off x="1463040" y="4416552"/>
            <a:ext cx="7041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Conta de recebíveis → Conta administrada pelo FIDC. Ciclo encerrado com total rastreabilidade.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93a772e3e9_0_74"/>
          <p:cNvSpPr/>
          <p:nvPr/>
        </p:nvSpPr>
        <p:spPr>
          <a:xfrm>
            <a:off x="3931920" y="4709160"/>
            <a:ext cx="1280100" cy="320100"/>
          </a:xfrm>
          <a:prstGeom prst="ellipse">
            <a:avLst/>
          </a:prstGeom>
          <a:solidFill>
            <a:srgbClr val="0F24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93a772e3e9_0_74"/>
          <p:cNvSpPr/>
          <p:nvPr/>
        </p:nvSpPr>
        <p:spPr>
          <a:xfrm>
            <a:off x="3931920" y="470916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Ciclo encerrado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440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3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1B3A5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3"/>
          <p:cNvSpPr/>
          <p:nvPr/>
        </p:nvSpPr>
        <p:spPr>
          <a:xfrm>
            <a:off x="731520" y="1097280"/>
            <a:ext cx="7315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FLUXO 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ANTECIPAÇÃO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PARA FORNECEDORES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731520" y="3200400"/>
            <a:ext cx="1828800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3"/>
          <p:cNvSpPr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5D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DA5D9"/>
                </a:solidFill>
                <a:latin typeface="Calibri"/>
                <a:ea typeface="Calibri"/>
                <a:cs typeface="Calibri"/>
                <a:sym typeface="Calibri"/>
              </a:rPr>
              <a:t>Seção complementar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Fluxo de Antecipação — Fornecedores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Processo completo: do cadastro à liquidação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205740" y="1280160"/>
            <a:ext cx="14173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/>
          <p:nvPr/>
        </p:nvSpPr>
        <p:spPr>
          <a:xfrm>
            <a:off x="205740" y="1280160"/>
            <a:ext cx="1417320" cy="640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4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5" name="Google Shape;5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15636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4"/>
          <p:cNvSpPr/>
          <p:nvPr/>
        </p:nvSpPr>
        <p:spPr>
          <a:xfrm>
            <a:off x="205740" y="202996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1. Cadastro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278892" y="2468880"/>
            <a:ext cx="127101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Hospital cadastra fornecedor com dados cadastrais e conta CNPJ.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1714500" y="26974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2034540" y="1280160"/>
            <a:ext cx="14173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2034540" y="1280160"/>
            <a:ext cx="1417320" cy="64008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2514600" y="1463040"/>
            <a:ext cx="457200" cy="457200"/>
          </a:xfrm>
          <a:prstGeom prst="ellipse">
            <a:avLst/>
          </a:prstGeom>
          <a:solidFill>
            <a:srgbClr val="2E7D9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2" name="Google Shape;5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5184" y="15636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4"/>
          <p:cNvSpPr/>
          <p:nvPr/>
        </p:nvSpPr>
        <p:spPr>
          <a:xfrm>
            <a:off x="2034540" y="202996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2. Performado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2107692" y="2468880"/>
            <a:ext cx="127101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Hospital marca recebíveis performados (automático via ERP).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3543300" y="26974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3863340" y="1280160"/>
            <a:ext cx="14173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3863340" y="1280160"/>
            <a:ext cx="1417320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9" name="Google Shape;52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3984" y="15636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14"/>
          <p:cNvSpPr/>
          <p:nvPr/>
        </p:nvSpPr>
        <p:spPr>
          <a:xfrm>
            <a:off x="3863340" y="202996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3. Assinatura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3936492" y="2468880"/>
            <a:ext cx="127101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Fornecedor assina docs e aprova trava de domicílio.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5372100" y="26974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5692140" y="1280160"/>
            <a:ext cx="14173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4"/>
          <p:cNvSpPr/>
          <p:nvPr/>
        </p:nvSpPr>
        <p:spPr>
          <a:xfrm>
            <a:off x="5692140" y="1280160"/>
            <a:ext cx="1417320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4"/>
          <p:cNvSpPr/>
          <p:nvPr/>
        </p:nvSpPr>
        <p:spPr>
          <a:xfrm>
            <a:off x="6172200" y="1463040"/>
            <a:ext cx="457200" cy="457200"/>
          </a:xfrm>
          <a:prstGeom prst="ellipse">
            <a:avLst/>
          </a:prstGeom>
          <a:solidFill>
            <a:srgbClr val="F0A50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6" name="Google Shape;53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2784" y="15636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4"/>
          <p:cNvSpPr/>
          <p:nvPr/>
        </p:nvSpPr>
        <p:spPr>
          <a:xfrm>
            <a:off x="5692140" y="202996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4. Antecipação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5765292" y="2468880"/>
            <a:ext cx="127101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FIDC antecipa recursos ao CNPJ do fornecedor.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7200900" y="26974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7520940" y="1280160"/>
            <a:ext cx="14173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7520940" y="1280160"/>
            <a:ext cx="1417320" cy="640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4"/>
          <p:cNvSpPr/>
          <p:nvPr/>
        </p:nvSpPr>
        <p:spPr>
          <a:xfrm>
            <a:off x="8001000" y="146304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3" name="Google Shape;54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01584" y="15636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4"/>
          <p:cNvSpPr/>
          <p:nvPr/>
        </p:nvSpPr>
        <p:spPr>
          <a:xfrm>
            <a:off x="7520940" y="202996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5. Liquidação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7594092" y="2468880"/>
            <a:ext cx="127101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Hospital paga → escrow → abatimento → FIDC.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4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Requer integração com ERP hospitalar e criação de portal do fornecedor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" name="Google Shape;553;p15"/>
          <p:cNvGraphicFramePr/>
          <p:nvPr/>
        </p:nvGraphicFramePr>
        <p:xfrm>
          <a:off x="45720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{5D9272B8-B2A8-4306-A362-FC9B462D6055}</a:tableStyleId>
              </a:tblPr>
              <a:tblGrid>
                <a:gridCol w="1828800"/>
                <a:gridCol w="2130550"/>
                <a:gridCol w="2130550"/>
                <a:gridCol w="21305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Característica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Médico (CPF)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Médico (CNPJ)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Fornecedor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Cadastro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Pelo hospital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Pelo hospital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Pelo hospital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Validação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Check-in/out + supervisão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Check-in/out + supervisão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Entrega/ERP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 de crédito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CPF do médico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CPF e CNPJ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CNPJ do fornecedor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 impostos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 (ajustável)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Autorização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Automática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 CNPJ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Fornecedor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Trava domicílio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 CPF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CNPJ inteiro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 CNPJ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Confidencialidade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entre médicos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4" name="Google Shape;554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Resumo Comparativo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8"/>
          <p:cNvSpPr/>
          <p:nvPr/>
        </p:nvSpPr>
        <p:spPr>
          <a:xfrm>
            <a:off x="274320" y="1097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Fluxograma Completo — Fornecedores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155448" y="1005840"/>
            <a:ext cx="1371600" cy="6858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155448" y="100584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Hospital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cadastra fornecedor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155448" y="1764792"/>
            <a:ext cx="1371600" cy="502920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8"/>
          <p:cNvSpPr/>
          <p:nvPr/>
        </p:nvSpPr>
        <p:spPr>
          <a:xfrm>
            <a:off x="155448" y="1764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Dados cadastrais,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conta CNPJ, contrato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1636776" y="114300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2020824" y="1005840"/>
            <a:ext cx="1371600" cy="685800"/>
          </a:xfrm>
          <a:prstGeom prst="rect">
            <a:avLst/>
          </a:prstGeom>
          <a:solidFill>
            <a:srgbClr val="2E7D9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2020824" y="100584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Hospital marca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recebível performado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2020824" y="1764792"/>
            <a:ext cx="1371600" cy="502920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2020824" y="1764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Automático via ERP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ou manual no portal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3502152" y="114300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3886200" y="1005840"/>
            <a:ext cx="1371600" cy="68580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3886200" y="100584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Fornecedor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assina documentos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3886200" y="1764792"/>
            <a:ext cx="1371600" cy="502920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3886200" y="1764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Trava de domicílio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aprovada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5367528" y="114300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5751576" y="1005840"/>
            <a:ext cx="1371600" cy="685800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5751576" y="100584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FIDC antecipa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/>
          <p:nvPr/>
        </p:nvSpPr>
        <p:spPr>
          <a:xfrm>
            <a:off x="5751576" y="1764792"/>
            <a:ext cx="1371600" cy="502920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8"/>
          <p:cNvSpPr/>
          <p:nvPr/>
        </p:nvSpPr>
        <p:spPr>
          <a:xfrm>
            <a:off x="5751576" y="1764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Transferência para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CNPJ do fornecedor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8"/>
          <p:cNvSpPr/>
          <p:nvPr/>
        </p:nvSpPr>
        <p:spPr>
          <a:xfrm>
            <a:off x="7232904" y="114300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7616952" y="1005840"/>
            <a:ext cx="1371600" cy="6858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7616952" y="100584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Hospital paga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vencimento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7616952" y="1764792"/>
            <a:ext cx="1371600" cy="502920"/>
          </a:xfrm>
          <a:prstGeom prst="rect">
            <a:avLst/>
          </a:prstGeom>
          <a:solidFill>
            <a:srgbClr val="F4F8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7616952" y="1764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Escrow → Abatimento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FIDC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8"/>
          <p:cNvSpPr/>
          <p:nvPr/>
        </p:nvSpPr>
        <p:spPr>
          <a:xfrm>
            <a:off x="274320" y="2514600"/>
            <a:ext cx="859536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8"/>
          <p:cNvSpPr/>
          <p:nvPr/>
        </p:nvSpPr>
        <p:spPr>
          <a:xfrm>
            <a:off x="274320" y="260604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Detalhamento por etapa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365760" y="2926080"/>
            <a:ext cx="54864" cy="32918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8"/>
          <p:cNvSpPr/>
          <p:nvPr/>
        </p:nvSpPr>
        <p:spPr>
          <a:xfrm>
            <a:off x="548640" y="292608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Cadastro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1828800" y="2926080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Hospital registra fornecedor com dados completos: razão social, CNPJ, conta bancária, contrato vigente.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365760" y="3310128"/>
            <a:ext cx="54864" cy="329184"/>
          </a:xfrm>
          <a:prstGeom prst="rect">
            <a:avLst/>
          </a:prstGeom>
          <a:solidFill>
            <a:srgbClr val="2E7D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8"/>
          <p:cNvSpPr/>
          <p:nvPr/>
        </p:nvSpPr>
        <p:spPr>
          <a:xfrm>
            <a:off x="548640" y="331012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Performado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1828800" y="3310128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Após entrega do produto ou conclusão do serviço, hospital marca como performado (idealmente automático via ERP).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365760" y="3694176"/>
            <a:ext cx="54864" cy="3291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8"/>
          <p:cNvSpPr/>
          <p:nvPr/>
        </p:nvSpPr>
        <p:spPr>
          <a:xfrm>
            <a:off x="548640" y="3694176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Assinatura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8"/>
          <p:cNvSpPr/>
          <p:nvPr/>
        </p:nvSpPr>
        <p:spPr>
          <a:xfrm>
            <a:off x="1828800" y="3694176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Fornecedor assina documentos de cessão de recebíveis e autoriza trava de domicílio bancário em sua conta CNPJ.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365760" y="4078224"/>
            <a:ext cx="54864" cy="32918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8"/>
          <p:cNvSpPr/>
          <p:nvPr/>
        </p:nvSpPr>
        <p:spPr>
          <a:xfrm>
            <a:off x="548640" y="407822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Antecipação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1828800" y="407822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FIDC transfere valor antecipado para CNPJ do fornecedor, descontadas taxas e juros.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365760" y="4462272"/>
            <a:ext cx="54864" cy="32918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8"/>
          <p:cNvSpPr/>
          <p:nvPr/>
        </p:nvSpPr>
        <p:spPr>
          <a:xfrm>
            <a:off x="548640" y="446227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Liquidação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1828800" y="4462272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Hospital paga no vencimento → escrow → plataforma abate principal + juros → repassa ao FIDC. Excedente ao fornecedor.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E8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9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9B"/>
                </a:solidFill>
                <a:latin typeface="Calibri"/>
                <a:ea typeface="Calibri"/>
                <a:cs typeface="Calibri"/>
                <a:sym typeface="Calibri"/>
              </a:rPr>
              <a:t>Requer integração com ERP hospitalar + portal dedicado ao fornecedor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440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9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B3A5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9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Obrigado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9"/>
          <p:cNvSpPr/>
          <p:nvPr/>
        </p:nvSpPr>
        <p:spPr>
          <a:xfrm>
            <a:off x="731520" y="2560320"/>
            <a:ext cx="1828800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9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5D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3DA5D9"/>
                </a:solidFill>
                <a:latin typeface="Calibri"/>
                <a:ea typeface="Calibri"/>
                <a:cs typeface="Calibri"/>
                <a:sym typeface="Calibri"/>
              </a:rPr>
              <a:t>Plataforma de Antecipação de Recebíveis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9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Documento Confidencial  |  Fevereiro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2026-02-09T16:38:59Z</dcterms:created>
  <dc:creator>MediLend</dc:creator>
</cp:coreProperties>
</file>